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-18287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E7ECE9"/>
                </a:solidFill>
                <a:latin typeface="IBM Plex Sans"/>
              </a:rPr>
              <a:t>Claim → Verdict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5FB79A"/>
                </a:solidFill>
                <a:latin typeface="IBM Plex Sans"/>
              </a:rPr>
              <a:t>Orchestrator forks to Image Parsing + Fraud Scoring in parallel · Decision Agent alone decides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41248"/>
            <a:ext cx="201168" cy="137160"/>
          </a:xfrm>
          <a:prstGeom prst="roundRect">
            <a:avLst>
              <a:gd name="adj" fmla="val 15000"/>
            </a:avLst>
          </a:prstGeom>
          <a:noFill/>
          <a:ln w="16510">
            <a:solidFill>
              <a:srgbClr val="7FA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32687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7FA8C9"/>
                </a:solidFill>
                <a:latin typeface="IBM Plex Sans"/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" y="2606039"/>
            <a:ext cx="1188720" cy="868680"/>
          </a:xfrm>
          <a:prstGeom prst="roundRect">
            <a:avLst>
              <a:gd name="adj" fmla="val 10000"/>
            </a:avLst>
          </a:prstGeom>
          <a:solidFill>
            <a:srgbClr val="192222"/>
          </a:solidFill>
          <a:ln w="17780">
            <a:solidFill>
              <a:srgbClr val="7FA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7FA8C9"/>
                </a:solidFill>
                <a:latin typeface="IBM Plex Sans"/>
              </a:rPr>
              <a:t>Chat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customer 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2834639"/>
            <a:ext cx="1051560" cy="640080"/>
          </a:xfrm>
          <a:prstGeom prst="roundRect">
            <a:avLst>
              <a:gd name="adj" fmla="val 50000"/>
            </a:avLst>
          </a:prstGeom>
          <a:solidFill>
            <a:srgbClr val="192222"/>
          </a:solidFill>
          <a:ln w="17780">
            <a:solidFill>
              <a:srgbClr val="9CAA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E7ECE9"/>
                </a:solidFill>
                <a:latin typeface="IBM Plex Sans"/>
              </a:rPr>
              <a:t>Claim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+ 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468879"/>
            <a:ext cx="1508760" cy="1005840"/>
          </a:xfrm>
          <a:prstGeom prst="roundRect">
            <a:avLst>
              <a:gd name="adj" fmla="val 10000"/>
            </a:avLst>
          </a:prstGeom>
          <a:solidFill>
            <a:srgbClr val="192222"/>
          </a:solidFill>
          <a:ln w="17780">
            <a:solidFill>
              <a:srgbClr val="5FB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E7ECE9"/>
                </a:solidFill>
                <a:latin typeface="IBM Plex Sans"/>
              </a:rPr>
              <a:t>Orchestrator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classify · resolve ref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192222"/>
          </a:solidFill>
          <a:ln w="17780">
            <a:solidFill>
              <a:srgbClr val="2C3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E7ECE9"/>
                </a:solidFill>
                <a:latin typeface="IBM Plex Sans"/>
              </a:rPr>
              <a:t>Image Parsing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consistency verdict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8862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192222"/>
          </a:solidFill>
          <a:ln w="17780">
            <a:solidFill>
              <a:srgbClr val="2C3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E7ECE9"/>
                </a:solidFill>
                <a:latin typeface="IBM Plex Sans"/>
              </a:rPr>
              <a:t>Fraud Scoring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risk band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23160"/>
            <a:ext cx="1508760" cy="1051560"/>
          </a:xfrm>
          <a:prstGeom prst="roundRect">
            <a:avLst>
              <a:gd name="adj" fmla="val 10000"/>
            </a:avLst>
          </a:prstGeom>
          <a:solidFill>
            <a:srgbClr val="192222"/>
          </a:solidFill>
          <a:ln w="17780">
            <a:solidFill>
              <a:srgbClr val="5FB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E7ECE9"/>
                </a:solidFill>
                <a:latin typeface="IBM Plex Sans"/>
              </a:rPr>
              <a:t>Decision Agent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policy RAG +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decision matrix</a:t>
            </a:r>
          </a:p>
        </p:txBody>
      </p:sp>
      <p:sp>
        <p:nvSpPr>
          <p:cNvPr id="13" name="Diamond 12"/>
          <p:cNvSpPr/>
          <p:nvPr/>
        </p:nvSpPr>
        <p:spPr>
          <a:xfrm>
            <a:off x="8074152" y="2340863"/>
            <a:ext cx="1133856" cy="1133856"/>
          </a:xfrm>
          <a:prstGeom prst="diamond">
            <a:avLst/>
          </a:prstGeom>
          <a:solidFill>
            <a:srgbClr val="192222"/>
          </a:solidFill>
          <a:ln w="20320">
            <a:solidFill>
              <a:srgbClr val="E7E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E7ECE9"/>
                </a:solidFill>
                <a:latin typeface="IBM Plex Sans"/>
              </a:rPr>
              <a:t>Verdict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370832"/>
            <a:ext cx="1554480" cy="384048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5F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E7ECE9"/>
                </a:solidFill>
                <a:latin typeface="IBM Plex Sans"/>
              </a:rPr>
              <a:t/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guardrail: refund &gt; $200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always escalate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444752"/>
            <a:ext cx="1600200" cy="749808"/>
          </a:xfrm>
          <a:prstGeom prst="roundRect">
            <a:avLst>
              <a:gd name="adj" fmla="val 10000"/>
            </a:avLst>
          </a:prstGeom>
          <a:solidFill>
            <a:srgbClr val="192222"/>
          </a:solidFill>
          <a:ln w="17780">
            <a:solidFill>
              <a:srgbClr val="5FB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5FB79A"/>
                </a:solidFill>
                <a:latin typeface="IBM Plex Sans"/>
              </a:rPr>
              <a:t>issue_refund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★ refund issued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2724912"/>
            <a:ext cx="1600200" cy="749808"/>
          </a:xfrm>
          <a:prstGeom prst="roundRect">
            <a:avLst>
              <a:gd name="adj" fmla="val 10000"/>
            </a:avLst>
          </a:prstGeom>
          <a:solidFill>
            <a:srgbClr val="192222"/>
          </a:solidFill>
          <a:ln w="17780">
            <a:solidFill>
              <a:srgbClr val="DD7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E7ECE9"/>
                </a:solidFill>
                <a:latin typeface="IBM Plex Sans"/>
              </a:rPr>
              <a:t>Denial sent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customer notified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4114800"/>
            <a:ext cx="1600200" cy="685800"/>
          </a:xfrm>
          <a:prstGeom prst="roundRect">
            <a:avLst>
              <a:gd name="adj" fmla="val 10000"/>
            </a:avLst>
          </a:prstGeom>
          <a:solidFill>
            <a:srgbClr val="192222"/>
          </a:solidFill>
          <a:ln w="17780">
            <a:solidFill>
              <a:srgbClr val="7FA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500">
                <a:solidFill>
                  <a:srgbClr val="7FA8C9"/>
                </a:solidFill>
                <a:latin typeface="IBM Plex Sans"/>
              </a:rPr>
              <a:t>Admin</a:t>
            </a:r>
          </a:p>
          <a:p>
            <a:pPr algn="ctr"/>
            <a:r>
              <a:rPr sz="1100">
                <a:solidFill>
                  <a:srgbClr val="9CAAA4"/>
                </a:solidFill>
                <a:latin typeface="IBM Plex Sans"/>
              </a:rPr>
              <a:t>reviewer frontend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0160" y="3474720"/>
            <a:ext cx="228600" cy="0"/>
          </a:xfrm>
          <a:prstGeom prst="line">
            <a:avLst/>
          </a:prstGeom>
          <a:ln w="20320">
            <a:solidFill>
              <a:srgbClr val="2C3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60320" y="3474720"/>
            <a:ext cx="228600" cy="0"/>
          </a:xfrm>
          <a:prstGeom prst="line">
            <a:avLst/>
          </a:prstGeom>
          <a:ln w="20320">
            <a:solidFill>
              <a:srgbClr val="2C3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297680" y="2194560"/>
            <a:ext cx="182880" cy="1280160"/>
          </a:xfrm>
          <a:prstGeom prst="curvedConnector3">
            <a:avLst/>
          </a:prstGeom>
          <a:ln w="20320">
            <a:solidFill>
              <a:srgbClr val="2C3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97680" y="3474720"/>
            <a:ext cx="182880" cy="1280160"/>
          </a:xfrm>
          <a:prstGeom prst="curvedConnector3">
            <a:avLst/>
          </a:prstGeom>
          <a:ln w="20320">
            <a:solidFill>
              <a:srgbClr val="2C3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72200" y="2194560"/>
            <a:ext cx="228600" cy="1188719"/>
          </a:xfrm>
          <a:prstGeom prst="curvedConnector3">
            <a:avLst/>
          </a:prstGeom>
          <a:ln w="20320">
            <a:solidFill>
              <a:srgbClr val="2C3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172200" y="3566160"/>
            <a:ext cx="228600" cy="1188720"/>
          </a:xfrm>
          <a:prstGeom prst="curvedConnector3">
            <a:avLst/>
          </a:prstGeom>
          <a:ln w="20320">
            <a:solidFill>
              <a:srgbClr val="2C3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09560" y="3474720"/>
            <a:ext cx="164592" cy="0"/>
          </a:xfrm>
          <a:prstGeom prst="line">
            <a:avLst/>
          </a:prstGeom>
          <a:ln w="20320">
            <a:solidFill>
              <a:srgbClr val="2C3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41080" y="4041648"/>
            <a:ext cx="0" cy="329183"/>
          </a:xfrm>
          <a:prstGeom prst="line">
            <a:avLst/>
          </a:prstGeom>
          <a:ln w="15240">
            <a:solidFill>
              <a:srgbClr val="5FB7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979408" y="2194560"/>
            <a:ext cx="484632" cy="969264"/>
          </a:xfrm>
          <a:prstGeom prst="curvedConnector3">
            <a:avLst/>
          </a:prstGeom>
          <a:ln w="20320">
            <a:solidFill>
              <a:srgbClr val="5CBF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08008" y="3474720"/>
            <a:ext cx="256032" cy="0"/>
          </a:xfrm>
          <a:prstGeom prst="line">
            <a:avLst/>
          </a:prstGeom>
          <a:ln w="20320">
            <a:solidFill>
              <a:srgbClr val="DD7D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79408" y="3785616"/>
            <a:ext cx="484632" cy="969264"/>
          </a:xfrm>
          <a:prstGeom prst="curvedConnector3">
            <a:avLst/>
          </a:prstGeom>
          <a:ln w="20320">
            <a:solidFill>
              <a:srgbClr val="DBA9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9171432" y="2368296"/>
            <a:ext cx="292608" cy="2089404"/>
          </a:xfrm>
          <a:prstGeom prst="curvedConnector3">
            <a:avLst/>
          </a:prstGeom>
          <a:ln w="16510">
            <a:solidFill>
              <a:srgbClr val="5FB7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520440" y="265176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1">
                <a:solidFill>
                  <a:srgbClr val="2C3735"/>
                </a:solidFill>
                <a:latin typeface="IBM Plex Sans"/>
              </a:rPr>
              <a:t>parallel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11480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1">
                <a:solidFill>
                  <a:srgbClr val="2C3735"/>
                </a:solidFill>
                <a:latin typeface="IBM Plex Sans"/>
              </a:rPr>
              <a:t>parallel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28600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1">
                <a:solidFill>
                  <a:srgbClr val="5CBF85"/>
                </a:solidFill>
                <a:latin typeface="IBM Plex Sans"/>
              </a:rP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172968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1">
                <a:solidFill>
                  <a:srgbClr val="DD7D68"/>
                </a:solidFill>
                <a:latin typeface="IBM Plex Sans"/>
              </a:rPr>
              <a:t>deny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11480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1">
                <a:solidFill>
                  <a:srgbClr val="DBA956"/>
                </a:solidFill>
                <a:latin typeface="IBM Plex Sans"/>
              </a:rPr>
              <a:t>escalate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62356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1">
                <a:solidFill>
                  <a:srgbClr val="5FB79A"/>
                </a:solidFill>
                <a:latin typeface="IBM Plex Sans"/>
              </a:rPr>
              <a:t>human approve →</a:t>
            </a:r>
          </a:p>
          <a:p>
            <a:pPr algn="ctr"/>
            <a:r>
              <a:rPr sz="900" b="0" i="1">
                <a:solidFill>
                  <a:srgbClr val="5FB79A"/>
                </a:solidFill>
                <a:latin typeface="IBM Plex Sans"/>
              </a:rPr>
              <a:t>same issue_refund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