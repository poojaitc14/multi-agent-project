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659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80">
                <a:solidFill>
                  <a:srgbClr val="1F7A6C"/>
                </a:solidFill>
                <a:latin typeface="Calibri"/>
              </a:rPr>
              <a:t>SYSTEM ARCHITECTURE  •  PROCESS FLOW  •  VERIFIED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95728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 Light"/>
              </a:rPr>
              <a:t>Multi-Agent Fraud Triage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18211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9D4DD"/>
                </a:solidFill>
                <a:latin typeface="Calibri"/>
              </a:rPr>
              <a:t>Technical Architecture Deep-Dive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840480"/>
            <a:ext cx="502920" cy="38100"/>
          </a:xfrm>
          <a:prstGeom prst="rect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4343400"/>
            <a:ext cx="1188720" cy="502920"/>
          </a:xfrm>
          <a:prstGeom prst="roundRect">
            <a:avLst>
              <a:gd name="adj" fmla="val 15000"/>
            </a:avLst>
          </a:prstGeom>
          <a:solidFill>
            <a:srgbClr val="243355"/>
          </a:solidFill>
          <a:ln w="12700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Orchestrator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21408" y="4594860"/>
            <a:ext cx="228600" cy="0"/>
          </a:xfrm>
          <a:prstGeom prst="line">
            <a:avLst/>
          </a:prstGeom>
          <a:ln w="19050">
            <a:solidFill>
              <a:srgbClr val="1F7A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50008" y="4343400"/>
            <a:ext cx="1188720" cy="502920"/>
          </a:xfrm>
          <a:prstGeom prst="roundRect">
            <a:avLst>
              <a:gd name="adj" fmla="val 15000"/>
            </a:avLst>
          </a:prstGeom>
          <a:solidFill>
            <a:srgbClr val="243355"/>
          </a:solidFill>
          <a:ln w="12700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Image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38728" y="4594860"/>
            <a:ext cx="228600" cy="0"/>
          </a:xfrm>
          <a:prstGeom prst="line">
            <a:avLst/>
          </a:prstGeom>
          <a:ln w="19050">
            <a:solidFill>
              <a:srgbClr val="1F7A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67328" y="4343400"/>
            <a:ext cx="1188720" cy="502920"/>
          </a:xfrm>
          <a:prstGeom prst="roundRect">
            <a:avLst>
              <a:gd name="adj" fmla="val 15000"/>
            </a:avLst>
          </a:prstGeom>
          <a:solidFill>
            <a:srgbClr val="243355"/>
          </a:solidFill>
          <a:ln w="12700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Fraud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56048" y="4594860"/>
            <a:ext cx="228600" cy="0"/>
          </a:xfrm>
          <a:prstGeom prst="line">
            <a:avLst/>
          </a:prstGeom>
          <a:ln w="19050">
            <a:solidFill>
              <a:srgbClr val="1F7A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84648" y="4343400"/>
            <a:ext cx="1188720" cy="502920"/>
          </a:xfrm>
          <a:prstGeom prst="roundRect">
            <a:avLst>
              <a:gd name="adj" fmla="val 15000"/>
            </a:avLst>
          </a:prstGeom>
          <a:solidFill>
            <a:srgbClr val="243355"/>
          </a:solidFill>
          <a:ln w="12700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172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FB2C0"/>
                </a:solidFill>
                <a:latin typeface="Calibri"/>
              </a:rPr>
              <a:t>Technical Deep-Dive  • 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172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20">
                <a:solidFill>
                  <a:srgbClr val="1F7A6C"/>
                </a:solidFill>
                <a:latin typeface="Calibri"/>
              </a:rPr>
              <a:t>WHY THIS SYSTEM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0584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 Light"/>
              </a:rPr>
              <a:t>Business 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B5761A"/>
                </a:solidFill>
                <a:latin typeface="Calibri"/>
              </a:rPr>
              <a:t>THE CHALLENGE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6060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5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6484" y="1645920"/>
            <a:ext cx="438912" cy="438912"/>
          </a:xfrm>
          <a:prstGeom prst="ellipse">
            <a:avLst/>
          </a:prstGeom>
          <a:solidFill>
            <a:srgbClr val="B5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21992"/>
            <a:ext cx="2423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4213D"/>
                </a:solidFill>
                <a:latin typeface="Calibri"/>
              </a:rPr>
              <a:t>Slow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508760"/>
            <a:ext cx="26060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5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75404" y="1645920"/>
            <a:ext cx="438912" cy="438912"/>
          </a:xfrm>
          <a:prstGeom prst="ellipse">
            <a:avLst/>
          </a:prstGeom>
          <a:solidFill>
            <a:srgbClr val="B5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21992"/>
            <a:ext cx="2423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4213D"/>
                </a:solidFill>
                <a:latin typeface="Calibri"/>
              </a:rPr>
              <a:t>Inconsistent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08760"/>
            <a:ext cx="26060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5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64324" y="1645920"/>
            <a:ext cx="438912" cy="438912"/>
          </a:xfrm>
          <a:prstGeom prst="ellipse">
            <a:avLst/>
          </a:prstGeom>
          <a:solidFill>
            <a:srgbClr val="B5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221992"/>
            <a:ext cx="2423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4213D"/>
                </a:solidFill>
                <a:latin typeface="Calibri"/>
              </a:rPr>
              <a:t>Fraud-prone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508760"/>
            <a:ext cx="26060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5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53244" y="1645920"/>
            <a:ext cx="438912" cy="438912"/>
          </a:xfrm>
          <a:prstGeom prst="ellipse">
            <a:avLst/>
          </a:prstGeom>
          <a:solidFill>
            <a:srgbClr val="B5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221992"/>
            <a:ext cx="2423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4213D"/>
                </a:solidFill>
                <a:latin typeface="Calibri"/>
              </a:rPr>
              <a:t>Evidence unused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0632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1F7A6C"/>
                </a:solidFill>
                <a:latin typeface="Calibri"/>
              </a:rPr>
              <a:t>THE SOLUTION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29000"/>
            <a:ext cx="26060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586484" y="3566160"/>
            <a:ext cx="438912" cy="438912"/>
          </a:xfrm>
          <a:prstGeom prst="ellipse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142232"/>
            <a:ext cx="2423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4213D"/>
                </a:solidFill>
                <a:latin typeface="Calibri"/>
              </a:rPr>
              <a:t>4 grounded agents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3429000"/>
            <a:ext cx="26060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75404" y="3566160"/>
            <a:ext cx="438912" cy="438912"/>
          </a:xfrm>
          <a:prstGeom prst="ellipse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142232"/>
            <a:ext cx="2423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4213D"/>
                </a:solidFill>
                <a:latin typeface="Calibri"/>
              </a:rPr>
              <a:t>Verified, not guessed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3429000"/>
            <a:ext cx="26060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64324" y="3566160"/>
            <a:ext cx="438912" cy="438912"/>
          </a:xfrm>
          <a:prstGeom prst="ellipse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142232"/>
            <a:ext cx="2423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4213D"/>
                </a:solidFill>
                <a:latin typeface="Calibri"/>
              </a:rPr>
              <a:t>Explainable ML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3429000"/>
            <a:ext cx="26060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53244" y="3566160"/>
            <a:ext cx="438912" cy="438912"/>
          </a:xfrm>
          <a:prstGeom prst="ellipse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142232"/>
            <a:ext cx="2423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4213D"/>
                </a:solidFill>
                <a:latin typeface="Calibri"/>
              </a:rPr>
              <a:t>Human-in-the-loop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074920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2578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F7A6C"/>
                </a:solidFill>
                <a:latin typeface="Calibri"/>
              </a:rPr>
              <a:t>Faster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6692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9D4DD"/>
                </a:solidFill>
                <a:latin typeface="Calibri"/>
              </a:rPr>
              <a:t>resolution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2578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F7A6C"/>
                </a:solidFill>
                <a:latin typeface="Calibri"/>
              </a:rPr>
              <a:t>Consistent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56692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9D4DD"/>
                </a:solidFill>
                <a:latin typeface="Calibri"/>
              </a:rPr>
              <a:t>policy application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2578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F7A6C"/>
                </a:solidFill>
                <a:latin typeface="Calibri"/>
              </a:rPr>
              <a:t>Fraud caught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6692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9D4DD"/>
                </a:solidFill>
                <a:latin typeface="Calibri"/>
              </a:rPr>
              <a:t>before it's paid 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52578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F7A6C"/>
                </a:solidFill>
                <a:latin typeface="Calibri"/>
              </a:rPr>
              <a:t>Reviewers focus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56692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9D4DD"/>
                </a:solidFill>
                <a:latin typeface="Calibri"/>
              </a:rPr>
              <a:t>only on real edge cases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52881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9D4DD"/>
                </a:solidFill>
                <a:latin typeface="Calibri"/>
              </a:rPr>
              <a:t>Multi-Agent Fraud Triage System — Architecture &amp; Results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20095" y="652881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20">
                <a:solidFill>
                  <a:srgbClr val="1F7A6C"/>
                </a:solidFill>
                <a:latin typeface="Calibri"/>
              </a:rPr>
              <a:t>THE REAL, DEPLOYED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0584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 Light"/>
              </a:rP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3291840" cy="502920"/>
          </a:xfrm>
          <a:prstGeom prst="roundRect">
            <a:avLst>
              <a:gd name="adj" fmla="val 10000"/>
            </a:avLst>
          </a:prstGeom>
          <a:solidFill>
            <a:srgbClr val="E3F2EE"/>
          </a:solidFill>
          <a:ln w="15875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Customer Chat Frontend</a:t>
            </a:r>
          </a:p>
          <a:p>
            <a:pPr algn="ctr"/>
            <a:r>
              <a:rPr sz="800">
                <a:solidFill>
                  <a:srgbClr val="5B6B70"/>
                </a:solidFill>
                <a:latin typeface="Calibri"/>
              </a:rPr>
              <a:t>Streamlit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097280"/>
            <a:ext cx="3291840" cy="502920"/>
          </a:xfrm>
          <a:prstGeom prst="roundRect">
            <a:avLst>
              <a:gd name="adj" fmla="val 10000"/>
            </a:avLst>
          </a:prstGeom>
          <a:solidFill>
            <a:srgbClr val="FBF0DF"/>
          </a:solidFill>
          <a:ln w="15875">
            <a:solidFill>
              <a:srgbClr val="B5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Admin Reviewer Frontend</a:t>
            </a:r>
          </a:p>
          <a:p>
            <a:pPr algn="ctr"/>
            <a:r>
              <a:rPr sz="800">
                <a:solidFill>
                  <a:srgbClr val="5B6B70"/>
                </a:solidFill>
                <a:latin typeface="Calibri"/>
              </a:rPr>
              <a:t>Streamlit, password-gated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783080"/>
            <a:ext cx="4206240" cy="45720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587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FastAPI Backend</a:t>
            </a:r>
          </a:p>
          <a:p>
            <a:pPr algn="ctr"/>
            <a:r>
              <a:rPr sz="800">
                <a:solidFill>
                  <a:srgbClr val="C9D4DD"/>
                </a:solidFill>
                <a:latin typeface="Calibri"/>
              </a:rPr>
              <a:t>Routing • sessions • rate limits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1600200"/>
            <a:ext cx="0" cy="310896"/>
          </a:xfrm>
          <a:prstGeom prst="line">
            <a:avLst/>
          </a:prstGeom>
          <a:ln w="19050">
            <a:solidFill>
              <a:srgbClr val="1F7A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48840" y="1911096"/>
            <a:ext cx="1828799" cy="0"/>
          </a:xfrm>
          <a:prstGeom prst="line">
            <a:avLst/>
          </a:prstGeom>
          <a:ln w="19050">
            <a:solidFill>
              <a:srgbClr val="1F7A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012680" y="1600200"/>
            <a:ext cx="0" cy="310896"/>
          </a:xfrm>
          <a:prstGeom prst="line">
            <a:avLst/>
          </a:prstGeom>
          <a:ln w="19050">
            <a:solidFill>
              <a:srgbClr val="B576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183879" y="1911096"/>
            <a:ext cx="1828801" cy="0"/>
          </a:xfrm>
          <a:prstGeom prst="line">
            <a:avLst/>
          </a:prstGeom>
          <a:ln w="19050">
            <a:solidFill>
              <a:srgbClr val="B576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423160"/>
            <a:ext cx="11155680" cy="320040"/>
          </a:xfrm>
          <a:prstGeom prst="roundRect">
            <a:avLst>
              <a:gd name="adj" fmla="val 10000"/>
            </a:avLst>
          </a:prstGeom>
          <a:solidFill>
            <a:srgbClr val="243355"/>
          </a:solidFill>
          <a:ln w="15875">
            <a:solidFill>
              <a:srgbClr val="24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CrewAI Orchestrator Flow  (ClaimTriageFlow)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2240280"/>
            <a:ext cx="0" cy="182880"/>
          </a:xfrm>
          <a:prstGeom prst="line">
            <a:avLst/>
          </a:prstGeom>
          <a:ln w="19050">
            <a:solidFill>
              <a:srgbClr val="1421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2880360"/>
            <a:ext cx="260604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Orchestrator Agent</a:t>
            </a:r>
          </a:p>
          <a:p>
            <a:pPr algn="ctr"/>
            <a:r>
              <a:rPr sz="800">
                <a:solidFill>
                  <a:srgbClr val="5B6B70"/>
                </a:solidFill>
                <a:latin typeface="Calibri"/>
              </a:rPr>
              <a:t>Intake &amp; field extraction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05940.0" y="2743200"/>
            <a:ext cx="0.0" cy="137160"/>
          </a:xfrm>
          <a:prstGeom prst="line">
            <a:avLst/>
          </a:prstGeom>
          <a:ln w="19050">
            <a:solidFill>
              <a:srgbClr val="1421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73552" y="2880360"/>
            <a:ext cx="260604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Image Parsing Agent</a:t>
            </a:r>
          </a:p>
          <a:p>
            <a:pPr algn="ctr"/>
            <a:r>
              <a:rPr sz="800">
                <a:solidFill>
                  <a:srgbClr val="5B6B70"/>
                </a:solidFill>
                <a:latin typeface="Calibri"/>
              </a:rPr>
              <a:t>Photo consistency (vision)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6572.0" y="2743200"/>
            <a:ext cx="0.0" cy="137160"/>
          </a:xfrm>
          <a:prstGeom prst="line">
            <a:avLst/>
          </a:prstGeom>
          <a:ln w="19050">
            <a:solidFill>
              <a:srgbClr val="1421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044184" y="2880360"/>
            <a:ext cx="260604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Fraud Scoring Agent</a:t>
            </a:r>
          </a:p>
          <a:p>
            <a:pPr algn="ctr"/>
            <a:r>
              <a:rPr sz="800">
                <a:solidFill>
                  <a:srgbClr val="5B6B70"/>
                </a:solidFill>
                <a:latin typeface="Calibri"/>
              </a:rPr>
              <a:t>ML risk model + SHAP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47204.0" y="2743200"/>
            <a:ext cx="0.0" cy="137160"/>
          </a:xfrm>
          <a:prstGeom prst="line">
            <a:avLst/>
          </a:prstGeom>
          <a:ln w="19050">
            <a:solidFill>
              <a:srgbClr val="1421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814816" y="2880360"/>
            <a:ext cx="260604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100" b="1">
                <a:solidFill>
                  <a:srgbClr val="14213D"/>
                </a:solidFill>
                <a:latin typeface="Calibri"/>
              </a:rPr>
              <a:t>Decision Agent</a:t>
            </a:r>
          </a:p>
          <a:p>
            <a:pPr algn="ctr"/>
            <a:r>
              <a:rPr sz="800">
                <a:solidFill>
                  <a:srgbClr val="5B6B70"/>
                </a:solidFill>
                <a:latin typeface="Calibri"/>
              </a:rPr>
              <a:t>Policy RAG + decision matrix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117836.0" y="2743200"/>
            <a:ext cx="0.0" cy="137160"/>
          </a:xfrm>
          <a:prstGeom prst="line">
            <a:avLst/>
          </a:prstGeom>
          <a:ln w="19050">
            <a:solidFill>
              <a:srgbClr val="1421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2920" y="3730752"/>
            <a:ext cx="11155680" cy="1417320"/>
          </a:xfrm>
          <a:prstGeom prst="roundRect">
            <a:avLst>
              <a:gd name="adj" fmla="val 4000"/>
            </a:avLst>
          </a:prstGeom>
          <a:solidFill>
            <a:srgbClr val="14213D"/>
          </a:solidFill>
          <a:ln w="12700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039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50">
                <a:solidFill>
                  <a:srgbClr val="1F7A6C"/>
                </a:solidFill>
                <a:latin typeface="Calibri"/>
              </a:rPr>
              <a:t>ORCHESTRATOR MCP SERVER  —  single consolidated tool gateway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805940.0" y="3502152"/>
            <a:ext cx="0.0" cy="228600"/>
          </a:xfrm>
          <a:prstGeom prst="line">
            <a:avLst/>
          </a:prstGeom>
          <a:ln w="12700">
            <a:solidFill>
              <a:srgbClr val="6B7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6572.0" y="3502152"/>
            <a:ext cx="0.0" cy="228600"/>
          </a:xfrm>
          <a:prstGeom prst="line">
            <a:avLst/>
          </a:prstGeom>
          <a:ln w="12700">
            <a:solidFill>
              <a:srgbClr val="6B7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47204.0" y="3502152"/>
            <a:ext cx="0.0" cy="228600"/>
          </a:xfrm>
          <a:prstGeom prst="line">
            <a:avLst/>
          </a:prstGeom>
          <a:ln w="12700">
            <a:solidFill>
              <a:srgbClr val="6B7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117836.0" y="3502152"/>
            <a:ext cx="0.0" cy="228600"/>
          </a:xfrm>
          <a:prstGeom prst="line">
            <a:avLst/>
          </a:prstGeom>
          <a:ln w="12700">
            <a:solidFill>
              <a:srgbClr val="6B7C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1520" y="4114800"/>
            <a:ext cx="2606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9FB2C0"/>
                </a:solidFill>
                <a:latin typeface="Calibri"/>
              </a:rPr>
              <a:t>ORCHESTRATOR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352544"/>
            <a:ext cx="2514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resolve_customer_ref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521708"/>
            <a:ext cx="2514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get_order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690872"/>
            <a:ext cx="2514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F7A6C"/>
                </a:solidFill>
                <a:latin typeface="Consolas"/>
              </a:rPr>
              <a:t>issue_refund 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860036"/>
            <a:ext cx="2514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conversation_state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029200"/>
            <a:ext cx="2514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store/get_photo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02152" y="4114800"/>
            <a:ext cx="2606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9FB2C0"/>
                </a:solidFill>
                <a:latin typeface="Calibri"/>
              </a:rPr>
              <a:t>IMAGE PARSING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02152" y="4352544"/>
            <a:ext cx="2514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analyze_claim_photo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2784" y="4114800"/>
            <a:ext cx="2606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9FB2C0"/>
                </a:solidFill>
                <a:latin typeface="Calibri"/>
              </a:rPr>
              <a:t>FRAUD SCORING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4" y="4352544"/>
            <a:ext cx="2514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get_account_info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72784" y="4521708"/>
            <a:ext cx="2514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claim_frequency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2784" y="4690872"/>
            <a:ext cx="2514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get_tracking_status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72784" y="4860036"/>
            <a:ext cx="2514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score_fraud_risk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43416" y="4114800"/>
            <a:ext cx="2606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9FB2C0"/>
                </a:solidFill>
                <a:latin typeface="Calibri"/>
              </a:rPr>
              <a:t>DECISION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43416" y="4352544"/>
            <a:ext cx="2514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search_refund_policy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43416" y="4521708"/>
            <a:ext cx="2514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apply_decision_matrix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946904"/>
            <a:ext cx="10515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FB2C0"/>
                </a:solidFill>
                <a:latin typeface="Calibri"/>
              </a:rPr>
              <a:t>★ issue_refund — gated: only accepted with the Orchestrator's own bearer token (see slide 5)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330952"/>
            <a:ext cx="21214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5B6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000" b="1">
                <a:solidFill>
                  <a:srgbClr val="1E2A2E"/>
                </a:solidFill>
                <a:latin typeface="Calibri"/>
              </a:rPr>
              <a:t>Azure OpenAI</a:t>
            </a:r>
          </a:p>
          <a:p>
            <a:pPr algn="ctr"/>
            <a:r>
              <a:rPr sz="700">
                <a:solidFill>
                  <a:srgbClr val="5B6B70"/>
                </a:solidFill>
                <a:latin typeface="Calibri"/>
              </a:rPr>
              <a:t>GPT-4.1 mini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563624.0" y="5148072"/>
            <a:ext cx="0.0" cy="182880"/>
          </a:xfrm>
          <a:prstGeom prst="line">
            <a:avLst/>
          </a:prstGeom>
          <a:ln w="12700">
            <a:solidFill>
              <a:srgbClr val="B7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2761488" y="5330952"/>
            <a:ext cx="21214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5B6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000" b="1">
                <a:solidFill>
                  <a:srgbClr val="1E2A2E"/>
                </a:solidFill>
                <a:latin typeface="Calibri"/>
              </a:rPr>
              <a:t>AWS DynamoDB / S3</a:t>
            </a:r>
          </a:p>
          <a:p>
            <a:pPr algn="ctr"/>
            <a:r>
              <a:rPr sz="700">
                <a:solidFill>
                  <a:srgbClr val="5B6B70"/>
                </a:solidFill>
                <a:latin typeface="Calibri"/>
              </a:rPr>
              <a:t>state, photos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822192.0" y="5148072"/>
            <a:ext cx="0.0" cy="182880"/>
          </a:xfrm>
          <a:prstGeom prst="line">
            <a:avLst/>
          </a:prstGeom>
          <a:ln w="12700">
            <a:solidFill>
              <a:srgbClr val="B7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020056" y="5330952"/>
            <a:ext cx="21214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5B6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000" b="1">
                <a:solidFill>
                  <a:srgbClr val="1E2A2E"/>
                </a:solidFill>
                <a:latin typeface="Calibri"/>
              </a:rPr>
              <a:t>OpenSearch Serverless</a:t>
            </a:r>
          </a:p>
          <a:p>
            <a:pPr algn="ctr"/>
            <a:r>
              <a:rPr sz="700">
                <a:solidFill>
                  <a:srgbClr val="5B6B70"/>
                </a:solidFill>
                <a:latin typeface="Calibri"/>
              </a:rPr>
              <a:t>RAG index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080760.0" y="5148072"/>
            <a:ext cx="0.0" cy="182880"/>
          </a:xfrm>
          <a:prstGeom prst="line">
            <a:avLst/>
          </a:prstGeom>
          <a:ln w="12700">
            <a:solidFill>
              <a:srgbClr val="B7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7278624" y="5330952"/>
            <a:ext cx="21214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5B6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000" b="1">
                <a:solidFill>
                  <a:srgbClr val="1E2A2E"/>
                </a:solidFill>
                <a:latin typeface="Calibri"/>
              </a:rPr>
              <a:t>PostgreSQL</a:t>
            </a:r>
          </a:p>
          <a:p>
            <a:pPr algn="ctr"/>
            <a:r>
              <a:rPr sz="700">
                <a:solidFill>
                  <a:srgbClr val="5B6B70"/>
                </a:solidFill>
                <a:latin typeface="Calibri"/>
              </a:rPr>
              <a:t>claims, customers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39328.0" y="5148072"/>
            <a:ext cx="0.0" cy="182880"/>
          </a:xfrm>
          <a:prstGeom prst="line">
            <a:avLst/>
          </a:prstGeom>
          <a:ln w="12700">
            <a:solidFill>
              <a:srgbClr val="B7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9537192" y="5330952"/>
            <a:ext cx="21214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5B6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000" b="1">
                <a:solidFill>
                  <a:srgbClr val="1E2A2E"/>
                </a:solidFill>
                <a:latin typeface="Calibri"/>
              </a:rPr>
              <a:t>DummyJSON API</a:t>
            </a:r>
          </a:p>
          <a:p>
            <a:pPr algn="ctr"/>
            <a:r>
              <a:rPr sz="700">
                <a:solidFill>
                  <a:srgbClr val="5B6B70"/>
                </a:solidFill>
                <a:latin typeface="Calibri"/>
              </a:rPr>
              <a:t>orders (cached)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597896.0" y="5148072"/>
            <a:ext cx="0.0" cy="182880"/>
          </a:xfrm>
          <a:prstGeom prst="line">
            <a:avLst/>
          </a:prstGeom>
          <a:ln w="12700">
            <a:solidFill>
              <a:srgbClr val="B7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52881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9D4DD"/>
                </a:solidFill>
                <a:latin typeface="Calibri"/>
              </a:rPr>
              <a:t>Multi-Agent Fraud Triage System — Architecture &amp; Results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20095" y="652881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20">
                <a:solidFill>
                  <a:srgbClr val="1F7A6C"/>
                </a:solidFill>
                <a:latin typeface="Calibri"/>
              </a:rPr>
              <a:t>FROM CUSTOMER MESSAGE TO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0584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 Light"/>
              </a:rPr>
              <a:t>Claim Triage Process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874519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>
            <a:norm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Calibri"/>
              </a:rPr>
              <a:t>Customer
Message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5B6B70"/>
                </a:solidFill>
                <a:latin typeface="Calibri"/>
              </a:rPr>
              <a:t>Chat intake</a:t>
            </a:r>
          </a:p>
        </p:txBody>
      </p:sp>
      <p:sp>
        <p:nvSpPr>
          <p:cNvPr id="7" name="Oval 6"/>
          <p:cNvSpPr/>
          <p:nvPr/>
        </p:nvSpPr>
        <p:spPr>
          <a:xfrm>
            <a:off x="1239011" y="1307592"/>
            <a:ext cx="402336" cy="402336"/>
          </a:xfrm>
          <a:prstGeom prst="ellipse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39" y="2194560.0"/>
            <a:ext cx="256032" cy="0.0"/>
          </a:xfrm>
          <a:prstGeom prst="line">
            <a:avLst/>
          </a:prstGeom>
          <a:ln w="25400">
            <a:solidFill>
              <a:srgbClr val="1421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33471" y="1508760"/>
            <a:ext cx="1874519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>
            <a:norm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Calibri"/>
              </a:rPr>
              <a:t>Field
Extraction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5B6B70"/>
                </a:solidFill>
                <a:latin typeface="Calibri"/>
              </a:rPr>
              <a:t>Order, category,
description</a:t>
            </a:r>
          </a:p>
        </p:txBody>
      </p:sp>
      <p:sp>
        <p:nvSpPr>
          <p:cNvPr id="10" name="Oval 9"/>
          <p:cNvSpPr/>
          <p:nvPr/>
        </p:nvSpPr>
        <p:spPr>
          <a:xfrm>
            <a:off x="3369562" y="1307592"/>
            <a:ext cx="402336" cy="402336"/>
          </a:xfrm>
          <a:prstGeom prst="ellipse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07990" y="2194560.0"/>
            <a:ext cx="256032" cy="0.0"/>
          </a:xfrm>
          <a:prstGeom prst="line">
            <a:avLst/>
          </a:prstGeom>
          <a:ln w="25400">
            <a:solidFill>
              <a:srgbClr val="1421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64022" y="1508760"/>
            <a:ext cx="1874519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>
            <a:norm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Calibri"/>
              </a:rPr>
              <a:t>Image
Parsing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5B6B70"/>
                </a:solidFill>
                <a:latin typeface="Calibri"/>
              </a:rPr>
              <a:t>Vision check
(if required)</a:t>
            </a:r>
          </a:p>
        </p:txBody>
      </p:sp>
      <p:sp>
        <p:nvSpPr>
          <p:cNvPr id="13" name="Oval 12"/>
          <p:cNvSpPr/>
          <p:nvPr/>
        </p:nvSpPr>
        <p:spPr>
          <a:xfrm>
            <a:off x="5500113" y="1307592"/>
            <a:ext cx="402336" cy="402336"/>
          </a:xfrm>
          <a:prstGeom prst="ellipse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38541" y="2194560.0"/>
            <a:ext cx="256032" cy="0.0"/>
          </a:xfrm>
          <a:prstGeom prst="line">
            <a:avLst/>
          </a:prstGeom>
          <a:ln w="25400">
            <a:solidFill>
              <a:srgbClr val="1421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94573" y="1508760"/>
            <a:ext cx="1874519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>
            <a:norm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Calibri"/>
              </a:rPr>
              <a:t>Fraud
Scoring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5B6B70"/>
                </a:solidFill>
                <a:latin typeface="Calibri"/>
              </a:rPr>
              <a:t>SHAP ML
risk model</a:t>
            </a:r>
          </a:p>
        </p:txBody>
      </p:sp>
      <p:sp>
        <p:nvSpPr>
          <p:cNvPr id="16" name="Oval 15"/>
          <p:cNvSpPr/>
          <p:nvPr/>
        </p:nvSpPr>
        <p:spPr>
          <a:xfrm>
            <a:off x="7630664" y="1307592"/>
            <a:ext cx="402336" cy="402336"/>
          </a:xfrm>
          <a:prstGeom prst="ellipse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69092" y="2194560.0"/>
            <a:ext cx="256032" cy="0.0"/>
          </a:xfrm>
          <a:prstGeom prst="line">
            <a:avLst/>
          </a:prstGeom>
          <a:ln w="25400">
            <a:solidFill>
              <a:srgbClr val="1421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25124" y="1508760"/>
            <a:ext cx="1874519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>
            <a:norm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Calibri"/>
              </a:rPr>
              <a:t>Decision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5B6B70"/>
                </a:solidFill>
                <a:latin typeface="Calibri"/>
              </a:rPr>
              <a:t>Policy RAG +
decision matrix</a:t>
            </a:r>
          </a:p>
        </p:txBody>
      </p:sp>
      <p:sp>
        <p:nvSpPr>
          <p:cNvPr id="19" name="Oval 18"/>
          <p:cNvSpPr/>
          <p:nvPr/>
        </p:nvSpPr>
        <p:spPr>
          <a:xfrm>
            <a:off x="9761215" y="1307592"/>
            <a:ext cx="402336" cy="402336"/>
          </a:xfrm>
          <a:prstGeom prst="ellipse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962383.5" y="2880360"/>
            <a:ext cx="0.0" cy="438912"/>
          </a:xfrm>
          <a:prstGeom prst="line">
            <a:avLst/>
          </a:prstGeom>
          <a:ln w="25400">
            <a:solidFill>
              <a:srgbClr val="1421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5840" y="3337560"/>
            <a:ext cx="3383280" cy="868680"/>
          </a:xfrm>
          <a:prstGeom prst="roundRect">
            <a:avLst>
              <a:gd name="adj" fmla="val 12000"/>
            </a:avLst>
          </a:prstGeom>
          <a:solidFill>
            <a:srgbClr val="E4F4EA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500" b="1">
                <a:solidFill>
                  <a:srgbClr val="14213D"/>
                </a:solidFill>
                <a:latin typeface="Calibri"/>
              </a:rPr>
              <a:t>Approved / Refunded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5B6B70"/>
                </a:solidFill>
                <a:latin typeface="Calibri"/>
              </a:rPr>
              <a:t>Automatic — low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3337560"/>
            <a:ext cx="3383280" cy="868680"/>
          </a:xfrm>
          <a:prstGeom prst="roundRect">
            <a:avLst>
              <a:gd name="adj" fmla="val 12000"/>
            </a:avLst>
          </a:prstGeom>
          <a:solidFill>
            <a:srgbClr val="FBF0DF"/>
          </a:solidFill>
          <a:ln w="15875">
            <a:solidFill>
              <a:srgbClr val="B5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500" b="1">
                <a:solidFill>
                  <a:srgbClr val="14213D"/>
                </a:solidFill>
                <a:latin typeface="Calibri"/>
              </a:rPr>
              <a:t>Escalated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5B6B70"/>
                </a:solidFill>
                <a:latin typeface="Calibri"/>
              </a:rPr>
              <a:t>Routed to Admin 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3337560"/>
            <a:ext cx="3383280" cy="868680"/>
          </a:xfrm>
          <a:prstGeom prst="roundRect">
            <a:avLst>
              <a:gd name="adj" fmla="val 12000"/>
            </a:avLst>
          </a:prstGeom>
          <a:solidFill>
            <a:srgbClr val="F9E4E2"/>
          </a:solidFill>
          <a:ln w="15875">
            <a:solidFill>
              <a:srgbClr val="B33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500" b="1">
                <a:solidFill>
                  <a:srgbClr val="14213D"/>
                </a:solidFill>
                <a:latin typeface="Calibri"/>
              </a:rPr>
              <a:t>Denied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5B6B70"/>
                </a:solidFill>
                <a:latin typeface="Calibri"/>
              </a:rPr>
              <a:t>Outside policy / high risk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46520.0" y="4206240"/>
            <a:ext cx="0.0" cy="228600"/>
          </a:xfrm>
          <a:prstGeom prst="line">
            <a:avLst/>
          </a:prstGeom>
          <a:ln w="25400">
            <a:solidFill>
              <a:srgbClr val="B576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69080" y="4434840"/>
            <a:ext cx="475488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B57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>
                <a:solidFill>
                  <a:srgbClr val="B5761A"/>
                </a:solidFill>
                <a:latin typeface="Calibri"/>
              </a:rPr>
              <a:t>Human review — Approve (issue refund) or Deny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2881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9D4DD"/>
                </a:solidFill>
                <a:latin typeface="Calibri"/>
              </a:rPr>
              <a:t>Multi-Agent Fraud Triage System — Architecture &amp;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52881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20">
                <a:solidFill>
                  <a:srgbClr val="1F7A6C"/>
                </a:solidFill>
                <a:latin typeface="Calibri"/>
              </a:rPr>
              <a:t>TWO NON-BYPASSABLE DESIGN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0584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 Light"/>
              </a:rPr>
              <a:t>Security &amp; PII Boundary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3949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100">
                <a:solidFill>
                  <a:srgbClr val="1F7A6C"/>
                </a:solidFill>
                <a:latin typeface="Calibri"/>
              </a:rPr>
              <a:t>PII BOUNDARY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4663440" cy="594360"/>
          </a:xfrm>
          <a:prstGeom prst="roundRect">
            <a:avLst>
              <a:gd name="adj" fmla="val 10000"/>
            </a:avLst>
          </a:prstGeom>
          <a:solidFill>
            <a:srgbClr val="F9E4E2"/>
          </a:solidFill>
          <a:ln w="15875">
            <a:solidFill>
              <a:srgbClr val="B33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Calibri"/>
              </a:rPr>
              <a:t>Raw identifier</a:t>
            </a:r>
          </a:p>
          <a:p>
            <a:pPr algn="ctr"/>
            <a:r>
              <a:rPr sz="1000">
                <a:solidFill>
                  <a:srgbClr val="5B6B70"/>
                </a:solidFill>
                <a:latin typeface="Calibri"/>
              </a:rPr>
              <a:t>Email / customer ID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0.0" y="2651760"/>
            <a:ext cx="0.0" cy="320040"/>
          </a:xfrm>
          <a:prstGeom prst="line">
            <a:avLst/>
          </a:prstGeom>
          <a:ln w="25400">
            <a:solidFill>
              <a:srgbClr val="1421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68680" y="2971800"/>
            <a:ext cx="4663440" cy="59436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587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resolve_customer_ref</a:t>
            </a:r>
          </a:p>
          <a:p>
            <a:pPr algn="ctr"/>
            <a:r>
              <a:rPr sz="950">
                <a:solidFill>
                  <a:srgbClr val="C9D4DD"/>
                </a:solidFill>
                <a:latin typeface="Consolas"/>
              </a:rPr>
              <a:t>One-way lookup / creation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.0" y="3566160"/>
            <a:ext cx="0.0" cy="320040"/>
          </a:xfrm>
          <a:prstGeom prst="line">
            <a:avLst/>
          </a:prstGeom>
          <a:ln w="25400">
            <a:solidFill>
              <a:srgbClr val="1421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8680" y="3886200"/>
            <a:ext cx="4663440" cy="594360"/>
          </a:xfrm>
          <a:prstGeom prst="roundRect">
            <a:avLst>
              <a:gd name="adj" fmla="val 10000"/>
            </a:avLst>
          </a:prstGeom>
          <a:solidFill>
            <a:srgbClr val="E3F2EE"/>
          </a:solidFill>
          <a:ln w="15875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Calibri"/>
              </a:rPr>
              <a:t>customer_ref</a:t>
            </a:r>
          </a:p>
          <a:p>
            <a:pPr algn="ctr"/>
            <a:r>
              <a:rPr sz="1000">
                <a:solidFill>
                  <a:srgbClr val="5B6B70"/>
                </a:solidFill>
                <a:latin typeface="Consolas"/>
              </a:rPr>
              <a:t>Opaque token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0.0" y="4480560"/>
            <a:ext cx="0.0" cy="320040"/>
          </a:xfrm>
          <a:prstGeom prst="line">
            <a:avLst/>
          </a:prstGeom>
          <a:ln w="25400">
            <a:solidFill>
              <a:srgbClr val="1F7A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8680" y="4800600"/>
            <a:ext cx="466344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200" b="1">
                <a:solidFill>
                  <a:srgbClr val="14213D"/>
                </a:solidFill>
                <a:latin typeface="Calibri"/>
              </a:rPr>
              <a:t>Every agent, every tool call</a:t>
            </a:r>
          </a:p>
          <a:p>
            <a:pPr algn="ctr"/>
            <a:r>
              <a:rPr sz="900">
                <a:solidFill>
                  <a:srgbClr val="5B6B70"/>
                </a:solidFill>
                <a:latin typeface="Calibri"/>
              </a:rPr>
              <a:t>customer_ref only, never the raw identifier</a:t>
            </a:r>
          </a:p>
        </p:txBody>
      </p:sp>
      <p:sp>
        <p:nvSpPr>
          <p:cNvPr id="15" name="Oval 14"/>
          <p:cNvSpPr/>
          <p:nvPr/>
        </p:nvSpPr>
        <p:spPr>
          <a:xfrm>
            <a:off x="4754880" y="2103120"/>
            <a:ext cx="502920" cy="502920"/>
          </a:xfrm>
          <a:prstGeom prst="ellipse">
            <a:avLst/>
          </a:prstGeom>
          <a:solidFill>
            <a:srgbClr val="B3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3212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B6B70"/>
                </a:solidFill>
                <a:latin typeface="Calibri"/>
              </a:rPr>
              <a:t>Raw identifier never reaches any agent's LLM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280160"/>
            <a:ext cx="53949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4630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100">
                <a:solidFill>
                  <a:srgbClr val="B5761A"/>
                </a:solidFill>
                <a:latin typeface="Calibri"/>
              </a:rPr>
              <a:t>issue_refund GATE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2057400"/>
            <a:ext cx="466344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5B6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250" b="1">
                <a:solidFill>
                  <a:srgbClr val="1E2A2E"/>
                </a:solidFill>
                <a:latin typeface="Calibri"/>
              </a:rPr>
              <a:t>Any agent's MCP client</a:t>
            </a:r>
          </a:p>
          <a:p>
            <a:pPr algn="ctr"/>
            <a:r>
              <a:rPr sz="950">
                <a:solidFill>
                  <a:srgbClr val="5B6B70"/>
                </a:solidFill>
                <a:latin typeface="Calibri"/>
              </a:rPr>
              <a:t>calls issue_refund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61120.0" y="2651760"/>
            <a:ext cx="0.0" cy="320040"/>
          </a:xfrm>
          <a:prstGeom prst="line">
            <a:avLst/>
          </a:prstGeom>
          <a:ln w="25400">
            <a:solidFill>
              <a:srgbClr val="1421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29400" y="2971800"/>
            <a:ext cx="4663440" cy="59436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587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IssueRefundGate</a:t>
            </a:r>
          </a:p>
          <a:p>
            <a:pPr algn="ctr"/>
            <a:r>
              <a:rPr sz="950">
                <a:solidFill>
                  <a:srgbClr val="C9D4DD"/>
                </a:solidFill>
                <a:latin typeface="Calibri"/>
              </a:rPr>
              <a:t>Checks bearer token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0.0" y="3566160"/>
            <a:ext cx="0.0" cy="320040"/>
          </a:xfrm>
          <a:prstGeom prst="line">
            <a:avLst/>
          </a:prstGeom>
          <a:ln w="25400">
            <a:solidFill>
              <a:srgbClr val="2E8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149840.0" y="3566160"/>
            <a:ext cx="0.0" cy="320040"/>
          </a:xfrm>
          <a:prstGeom prst="line">
            <a:avLst/>
          </a:prstGeom>
          <a:ln w="25400">
            <a:solidFill>
              <a:srgbClr val="B33A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629400" y="3886200"/>
            <a:ext cx="2194560" cy="594360"/>
          </a:xfrm>
          <a:prstGeom prst="roundRect">
            <a:avLst>
              <a:gd name="adj" fmla="val 10000"/>
            </a:avLst>
          </a:prstGeom>
          <a:solidFill>
            <a:srgbClr val="E4F4EA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150" b="1">
                <a:solidFill>
                  <a:srgbClr val="14213D"/>
                </a:solidFill>
                <a:latin typeface="Calibri"/>
              </a:rPr>
              <a:t>✓ Orchestrator token</a:t>
            </a:r>
          </a:p>
          <a:p>
            <a:pPr algn="ctr"/>
            <a:r>
              <a:rPr sz="850">
                <a:solidFill>
                  <a:srgbClr val="5B6B70"/>
                </a:solidFill>
                <a:latin typeface="Calibri"/>
              </a:rPr>
              <a:t>Refund proceeds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3886200"/>
            <a:ext cx="2194560" cy="594360"/>
          </a:xfrm>
          <a:prstGeom prst="roundRect">
            <a:avLst>
              <a:gd name="adj" fmla="val 10000"/>
            </a:avLst>
          </a:prstGeom>
          <a:solidFill>
            <a:srgbClr val="F9E4E2"/>
          </a:solidFill>
          <a:ln w="15875">
            <a:solidFill>
              <a:srgbClr val="B33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rmAutofit/>
          </a:bodyPr>
          <a:lstStyle/>
          <a:p>
            <a:pPr algn="ctr"/>
            <a:r>
              <a:rPr sz="1150" b="1">
                <a:solidFill>
                  <a:srgbClr val="14213D"/>
                </a:solidFill>
                <a:latin typeface="Calibri"/>
              </a:rPr>
              <a:t>✕ Any other token</a:t>
            </a:r>
          </a:p>
          <a:p>
            <a:pPr algn="ctr"/>
            <a:r>
              <a:rPr sz="850">
                <a:solidFill>
                  <a:srgbClr val="5B6B70"/>
                </a:solidFill>
                <a:latin typeface="Calibri"/>
              </a:rPr>
              <a:t>ToolError raised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709160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70"/>
                </a:solidFill>
                <a:latin typeface="Calibri"/>
              </a:rPr>
              <a:t>Even though every agent shares one MCP server (Q55), only the Orchestrator's own bearer token can move real money — the Image Parsing, Fraud Scoring, and Decision agents have no route to issue_refund, no matter what they conclude.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2881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9D4DD"/>
                </a:solidFill>
                <a:latin typeface="Calibri"/>
              </a:rPr>
              <a:t>Multi-Agent Fraud Triage System — Architecture &amp;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52881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20">
                <a:solidFill>
                  <a:srgbClr val="1F7A6C"/>
                </a:solidFill>
                <a:latin typeface="Calibri"/>
              </a:rPr>
              <a:t>REAL INFRASTRUCTURE, NO MOCKING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0584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 Light"/>
              </a:rPr>
              <a:t>Testing &amp; Actual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2606040" cy="73152"/>
          </a:xfrm>
          <a:prstGeom prst="rect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4213D"/>
                </a:solidFill>
                <a:latin typeface="Calibri Light"/>
              </a:rPr>
              <a:t>139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011680"/>
            <a:ext cx="2386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A2E"/>
                </a:solidFill>
                <a:latin typeface="Calibri"/>
              </a:rPr>
              <a:t>Automated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18872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188720"/>
            <a:ext cx="2606040" cy="73152"/>
          </a:xfrm>
          <a:prstGeom prst="rect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38988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4213D"/>
                </a:solidFill>
                <a:latin typeface="Calibri Light"/>
              </a:rPr>
              <a:t>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2011680"/>
            <a:ext cx="2386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A2E"/>
                </a:solidFill>
                <a:latin typeface="Calibri"/>
              </a:rPr>
              <a:t>Unit / integration /</a:t>
            </a:r>
          </a:p>
          <a:p>
            <a:pPr algn="ctr"/>
            <a:r>
              <a:rPr sz="1200" b="1" i="0">
                <a:solidFill>
                  <a:srgbClr val="1E2A2E"/>
                </a:solidFill>
                <a:latin typeface="Calibri"/>
              </a:rPr>
              <a:t>security &amp; PII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118872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17336" y="1188720"/>
            <a:ext cx="2606040" cy="73152"/>
          </a:xfrm>
          <a:prstGeom prst="rect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38988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4213D"/>
                </a:solidFill>
                <a:latin typeface="Calibri Light"/>
              </a:rPr>
              <a:t>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2011680"/>
            <a:ext cx="2386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A2E"/>
                </a:solidFill>
                <a:latin typeface="Calibri"/>
              </a:rPr>
              <a:t>Evaluation tests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24544" y="118872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24544" y="1188720"/>
            <a:ext cx="2606040" cy="73152"/>
          </a:xfrm>
          <a:prstGeom prst="rect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1704" y="138988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4213D"/>
                </a:solidFill>
                <a:latin typeface="Calibri Light"/>
              </a:rPr>
              <a:t>25 / 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2011680"/>
            <a:ext cx="2386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A2E"/>
                </a:solidFill>
                <a:latin typeface="Calibri"/>
              </a:rPr>
              <a:t>Image Parsing</a:t>
            </a:r>
          </a:p>
          <a:p>
            <a:pPr algn="ctr"/>
            <a:r>
              <a:rPr sz="1200" b="1" i="0">
                <a:solidFill>
                  <a:srgbClr val="1E2A2E"/>
                </a:solidFill>
                <a:latin typeface="Calibri"/>
              </a:rPr>
              <a:t>golden 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880360"/>
            <a:ext cx="11155680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063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1F7A6C"/>
                </a:solidFill>
                <a:latin typeface="Calibri"/>
              </a:rPr>
              <a:t>VERIFICATION PRINCIPLES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56616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6F9F8"/>
          </a:solidFill>
          <a:ln w="12700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>
            <a:norm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Calibri"/>
              </a:rPr>
              <a:t>Real infrastructure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5B6B70"/>
                </a:solidFill>
                <a:latin typeface="Calibri"/>
              </a:rPr>
              <a:t>AWS, Azure, OpenSearch,
Postgres — no mocks, ever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56616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6F9F8"/>
          </a:solidFill>
          <a:ln w="12700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>
            <a:norm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Calibri"/>
              </a:rPr>
              <a:t>Grounded guardrails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5B6B70"/>
                </a:solidFill>
                <a:latin typeface="Calibri"/>
              </a:rPr>
              <a:t>Every output re-checked
against its real tool call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56616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6F9F8"/>
          </a:solidFill>
          <a:ln w="12700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>
            <a:norm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Calibri"/>
              </a:rPr>
              <a:t>Explainable ML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5B6B70"/>
                </a:solidFill>
                <a:latin typeface="Calibri"/>
              </a:rPr>
              <a:t>SHAP attribution,
not a black-box score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98348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6F9F8"/>
          </a:solidFill>
          <a:ln w="12700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>
            <a:norm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Calibri"/>
              </a:rPr>
              <a:t>CI on every push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5B6B70"/>
                </a:solidFill>
                <a:latin typeface="Calibri"/>
              </a:rPr>
              <a:t>GitHub Actions,
fast unit gate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498348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6F9F8"/>
          </a:solidFill>
          <a:ln w="12700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>
            <a:norm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Calibri"/>
              </a:rPr>
              <a:t>Golden-set evaluation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5B6B70"/>
                </a:solidFill>
                <a:latin typeface="Calibri"/>
              </a:rPr>
              <a:t>Hand-crafted real
scenario datasets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498348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6F9F8"/>
          </a:solidFill>
          <a:ln w="12700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>
            <a:norm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Calibri"/>
              </a:rPr>
              <a:t>PII boundary enforced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5B6B70"/>
                </a:solidFill>
                <a:latin typeface="Calibri"/>
              </a:rPr>
              <a:t>Raw identifiers never
reach an LLM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2881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9D4DD"/>
                </a:solidFill>
                <a:latin typeface="Calibri"/>
              </a:rPr>
              <a:t>Multi-Agent Fraud Triage System — Architecture &amp;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52881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